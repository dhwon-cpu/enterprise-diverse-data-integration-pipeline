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7D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94600"/>
  </p:normalViewPr>
  <p:slideViewPr>
    <p:cSldViewPr snapToGrid="0">
      <p:cViewPr varScale="1">
        <p:scale>
          <a:sx n="117" d="100"/>
          <a:sy n="117" d="100"/>
        </p:scale>
        <p:origin x="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5D11C-6383-41CE-B9BB-B80894BF5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6ED6B-0835-602E-CF6A-D55B72222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24E14-AAEA-5BD8-C13D-9BA03298F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C5C3-47EB-F840-A246-7438B8E8BBD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B31C6-E261-CD65-7B7E-9B1DED31F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1E7A3-A129-5ACF-4D27-A14B33AB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377E-25DA-8142-9BC5-5E17A2C97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79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59AE-03C2-AE58-B7EF-D8A471F26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3558E-C46B-A28C-D80D-3D6D9F9F4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B1B5E-C224-F34B-B9AA-A84487CD9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C5C3-47EB-F840-A246-7438B8E8BBD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FA5AC-23B8-71AF-D620-601D0CAF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A3490-BCCF-05B4-4750-9898D3D44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377E-25DA-8142-9BC5-5E17A2C97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03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8A28D-2617-FA4A-4DA3-A91585A6B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F8AEE-F49B-3BB5-DD6E-1C2053079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6AE22-3786-BC2B-4A3F-8B659D10C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C5C3-47EB-F840-A246-7438B8E8BBD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D0585-45FF-5D27-84E2-A34936C06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0E963-270B-731D-979B-980B981B3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377E-25DA-8142-9BC5-5E17A2C97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55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D1835-7E9D-CCAC-E621-C8893E3E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0F94D-0804-31A0-1FF7-E94D119182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6AAB5-FFA4-1035-FCA3-02A1B0CEC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EBE13-22DA-A326-6F9A-4688F1DAD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C5C3-47EB-F840-A246-7438B8E8BBD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60BD5-3117-F526-6EAE-D3E26574E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760DA-612B-4574-EFCD-B34DFAECD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377E-25DA-8142-9BC5-5E17A2C97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967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C13C-D425-D895-B51A-AC9477682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0F286-043D-5907-CD2E-AF10EDDF9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416F2-3A3E-26BD-90DD-DE3CD2E8B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21D7B-61A1-F44D-94EA-CC62314513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61F158-EB9B-5A7E-A8ED-65CA34B65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120D30-ED1A-CC8C-A694-B747E207A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C5C3-47EB-F840-A246-7438B8E8BBD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3C69F6-7190-A3E8-F4AC-A071B78D1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517D8-C41E-7E00-90DC-900B78A6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377E-25DA-8142-9BC5-5E17A2C97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83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8BF00-8CF1-C328-892A-3815FD7ED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E761C-CCF7-6692-9087-7013DF251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C5C3-47EB-F840-A246-7438B8E8BBD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79BDE7-CB1F-88FF-0195-3904F8EB0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9D8A9-3CF3-E553-F21F-D42D8FF1D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377E-25DA-8142-9BC5-5E17A2C97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05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859C12-4F42-2575-0BF1-390DE9D32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C5C3-47EB-F840-A246-7438B8E8BBD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920828-FB48-D562-F134-135FFDFC3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2EE79-20CF-5A5B-412B-B08A54F4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377E-25DA-8142-9BC5-5E17A2C97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42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2460-6CDD-4EFA-0C68-DCFDA135F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64580-8C6D-B6EA-76AE-919365004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76157-22F5-7238-F726-30864CFF4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AD68A-ADB9-C268-EE38-5728D2D27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C5C3-47EB-F840-A246-7438B8E8BBD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E8FD1-4187-5BB7-883C-A4327EA03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901CD-BEB2-D4C5-17A6-D3AA1B4DB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377E-25DA-8142-9BC5-5E17A2C97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4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4CD0B-B119-0AB1-98FF-5177DE3AE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54AC8C-1788-175F-AE73-125F26F791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09A27-B44A-C68F-EB08-4B1597BEB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3CF55-4AEC-68D8-1153-49ED22824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C5C3-47EB-F840-A246-7438B8E8BBD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87371-1D64-11C7-4195-84CEF62F0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3BD5E-B0C7-E9F7-CCB1-6CB7FCD29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377E-25DA-8142-9BC5-5E17A2C97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7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12CBB-E54F-40CD-2BA7-569609983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7BED27-D680-8B73-F357-0E44ACB10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7EA16-1166-98D7-EC5C-11CE3D2C1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C5C3-47EB-F840-A246-7438B8E8BBD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4D3C7-8006-FE11-3D48-B05E92A19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5AA8B-DCE4-213E-B5A8-1DE340E42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377E-25DA-8142-9BC5-5E17A2C97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908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56D4E0-2423-96CE-A368-C16DB39BC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DF2EEB-B698-DA58-E4C6-0584481CA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8AAB7-4F52-110B-B337-DECA24DD5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C5C3-47EB-F840-A246-7438B8E8BBD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22F9A-C1EA-CA6D-293A-E43A80780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84076-1A2D-61BB-5E74-80BBAEFCE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377E-25DA-8142-9BC5-5E17A2C97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157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173F19-8300-F4EE-C4C5-4B61BF009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C9B0-9A11-88A3-2C06-7C5467C60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7C5DA-CE92-4BA6-1F5D-56AA31CA67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0C5C3-47EB-F840-A246-7438B8E8BBD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F0F46-D7BC-4C64-6FAB-10ECE58501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DE31E-7E0E-F19E-A389-056C570FD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7377E-25DA-8142-9BC5-5E17A2C97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882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DHWON-cpu/Snowflake-ML-Pipeline-for-Price-Predictio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642B6-16B3-69B3-3DB9-FA5A12E07B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sz="3200" b="1" dirty="0"/>
              <a:t>Enterprise Diverse Data Integration Pipeline</a:t>
            </a:r>
            <a:r>
              <a:rPr lang="en-US" altLang="ko-KR" sz="3200" b="1" dirty="0"/>
              <a:t>: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photos, music, metadata, and flat files</a:t>
            </a:r>
            <a:endParaRPr lang="en-CA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268DD-032B-1D24-6A79-73149E0653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CA" b="1" dirty="0">
              <a:hlinkClick r:id="rId2"/>
            </a:endParaRPr>
          </a:p>
          <a:p>
            <a:r>
              <a:rPr lang="en-CA" b="1" dirty="0"/>
              <a:t>D</a:t>
            </a:r>
            <a:r>
              <a:rPr lang="en-US" b="1" dirty="0" err="1"/>
              <a:t>ongHwan</a:t>
            </a:r>
            <a:r>
              <a:rPr lang="en-US" b="1" dirty="0"/>
              <a:t> Won / Dylan H Won</a:t>
            </a:r>
          </a:p>
          <a:p>
            <a:endParaRPr lang="en-CA" b="1" dirty="0">
              <a:hlinkClick r:id="rId2"/>
            </a:endParaRPr>
          </a:p>
          <a:p>
            <a:r>
              <a:rPr lang="en-CA" b="1" dirty="0"/>
              <a:t>Enterprise-diverse-data-integration-pipeline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33154-9147-1835-5D3B-7D950F97D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5344" y="1751037"/>
            <a:ext cx="2286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006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1EDC8-029C-0871-FC72-07FF6185E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0AE6D8E-66EA-5977-EF6B-33A4FB524441}"/>
              </a:ext>
            </a:extLst>
          </p:cNvPr>
          <p:cNvGrpSpPr/>
          <p:nvPr/>
        </p:nvGrpSpPr>
        <p:grpSpPr>
          <a:xfrm>
            <a:off x="619742" y="1480450"/>
            <a:ext cx="1756658" cy="566604"/>
            <a:chOff x="777812" y="1450490"/>
            <a:chExt cx="1756658" cy="56660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7E0CA18F-AE6D-069F-0F17-018FC55BC78C}"/>
                </a:ext>
              </a:extLst>
            </p:cNvPr>
            <p:cNvSpPr/>
            <p:nvPr/>
          </p:nvSpPr>
          <p:spPr>
            <a:xfrm>
              <a:off x="777812" y="1450490"/>
              <a:ext cx="1756658" cy="566603"/>
            </a:xfrm>
            <a:prstGeom prst="roundRect">
              <a:avLst/>
            </a:prstGeom>
            <a:noFill/>
            <a:ln>
              <a:solidFill>
                <a:srgbClr val="0464C3"/>
              </a:solidFill>
            </a:ln>
            <a:effectLst>
              <a:outerShdw blurRad="40000" dist="23000" dir="5400000" rotWithShape="0">
                <a:srgbClr val="00206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FF24EFC-7BD9-0747-50B2-738126BDD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7731" t="12544" r="54080" b="53446"/>
            <a:stretch>
              <a:fillRect/>
            </a:stretch>
          </p:blipFill>
          <p:spPr>
            <a:xfrm>
              <a:off x="777812" y="1450491"/>
              <a:ext cx="646361" cy="56660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7ED046F-05E5-BC10-A434-1C921416E220}"/>
                </a:ext>
              </a:extLst>
            </p:cNvPr>
            <p:cNvSpPr txBox="1"/>
            <p:nvPr/>
          </p:nvSpPr>
          <p:spPr>
            <a:xfrm>
              <a:off x="1270453" y="1609418"/>
              <a:ext cx="108715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00" b="1" dirty="0"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Business Needs</a:t>
              </a:r>
              <a:endParaRPr lang="en-US" sz="900" b="1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BE6AE41-CB33-D01D-8103-470934E9256E}"/>
              </a:ext>
            </a:extLst>
          </p:cNvPr>
          <p:cNvSpPr txBox="1"/>
          <p:nvPr/>
        </p:nvSpPr>
        <p:spPr>
          <a:xfrm>
            <a:off x="553291" y="2025269"/>
            <a:ext cx="3230739" cy="2835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A" sz="1000" b="1" dirty="0"/>
              <a:t>Business Needs</a:t>
            </a:r>
          </a:p>
          <a:p>
            <a:r>
              <a:rPr lang="en-CA" sz="1000" dirty="0"/>
              <a:t>Modern organizations manage diverse and unstructured data beyond traditional spreadsheets, including flat files, image metadata, multimedia files, and large-scale external datasets. These data sources often contain inconsistent formats, duplicated records, missing values, and unreliable metadata, making direct analysis difficult.</a:t>
            </a:r>
          </a:p>
          <a:p>
            <a:br>
              <a:rPr lang="en-CA" sz="1000" dirty="0"/>
            </a:br>
            <a:endParaRPr lang="en-CA" sz="1000" dirty="0"/>
          </a:p>
          <a:p>
            <a:r>
              <a:rPr lang="en-CA" sz="1000" dirty="0"/>
              <a:t>This project develops an enterprise-style data integration pipeline using Python and Microsoft SQL Server to load, validate, transform, and integrate heterogeneous data through staging-based ELT workflows, ensuring data quality, normalization, referential integrity, and scalable analytical processing.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CA" sz="1000" dirty="0">
              <a:latin typeface="Inter Variable Text Light" panose="02000503000000020004" pitchFamily="2" charset="0"/>
              <a:ea typeface="Inter Variable Text Light" panose="02000503000000020004" pitchFamily="2" charset="0"/>
              <a:cs typeface="Inter Variable Text Light" panose="02000503000000020004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94CA5C-6259-59B8-965C-2498750FFB61}"/>
              </a:ext>
            </a:extLst>
          </p:cNvPr>
          <p:cNvGrpSpPr/>
          <p:nvPr/>
        </p:nvGrpSpPr>
        <p:grpSpPr>
          <a:xfrm>
            <a:off x="4083127" y="1982727"/>
            <a:ext cx="1824126" cy="646626"/>
            <a:chOff x="710344" y="2097153"/>
            <a:chExt cx="1824126" cy="646626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6084757F-F3CB-9D8F-02D8-AFEAB2FD3996}"/>
                </a:ext>
              </a:extLst>
            </p:cNvPr>
            <p:cNvSpPr/>
            <p:nvPr/>
          </p:nvSpPr>
          <p:spPr>
            <a:xfrm>
              <a:off x="777812" y="2137165"/>
              <a:ext cx="1756658" cy="566603"/>
            </a:xfrm>
            <a:prstGeom prst="roundRect">
              <a:avLst/>
            </a:prstGeom>
            <a:noFill/>
            <a:ln>
              <a:solidFill>
                <a:srgbClr val="8D4ABA"/>
              </a:solidFill>
            </a:ln>
            <a:effectLst>
              <a:outerShdw blurRad="40000" dist="23000" dir="5400000" rotWithShape="0">
                <a:srgbClr val="753D9A">
                  <a:alpha val="34902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5082B48-C683-69DB-DD77-1A7B43AE5119}"/>
                </a:ext>
              </a:extLst>
            </p:cNvPr>
            <p:cNvSpPr txBox="1"/>
            <p:nvPr/>
          </p:nvSpPr>
          <p:spPr>
            <a:xfrm>
              <a:off x="1261861" y="2176562"/>
              <a:ext cx="1271593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Diverse data</a:t>
              </a:r>
            </a:p>
            <a:p>
              <a:r>
                <a:rPr lang="en-US" sz="900" b="1" dirty="0"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: multimedia, photo, music etc.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5DF45C5-F5B1-DE41-94BF-F7731A39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684" t="12653" r="17127" b="53337"/>
            <a:stretch>
              <a:fillRect/>
            </a:stretch>
          </p:blipFill>
          <p:spPr>
            <a:xfrm>
              <a:off x="710344" y="2097153"/>
              <a:ext cx="714604" cy="646626"/>
            </a:xfrm>
            <a:prstGeom prst="rect">
              <a:avLst/>
            </a:prstGeom>
          </p:spPr>
        </p:pic>
      </p:grp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29BFCD3A-1447-70C4-0513-5662669903E3}"/>
              </a:ext>
            </a:extLst>
          </p:cNvPr>
          <p:cNvCxnSpPr>
            <a:cxnSpLocks/>
            <a:stCxn id="12" idx="3"/>
            <a:endCxn id="29" idx="1"/>
          </p:cNvCxnSpPr>
          <p:nvPr/>
        </p:nvCxnSpPr>
        <p:spPr>
          <a:xfrm>
            <a:off x="2376400" y="1763752"/>
            <a:ext cx="1706727" cy="542288"/>
          </a:xfrm>
          <a:prstGeom prst="bentConnector3">
            <a:avLst>
              <a:gd name="adj1" fmla="val 86834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99A3010-2808-7B1B-0FE0-7236E5B71A5F}"/>
              </a:ext>
            </a:extLst>
          </p:cNvPr>
          <p:cNvSpPr txBox="1"/>
          <p:nvPr/>
        </p:nvSpPr>
        <p:spPr>
          <a:xfrm>
            <a:off x="4143088" y="2634197"/>
            <a:ext cx="21004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>
                <a:latin typeface="Inter Variable Text Light" panose="02000503000000020004" pitchFamily="2" charset="0"/>
                <a:ea typeface="Inter Variable Text Light" panose="02000503000000020004" pitchFamily="2" charset="0"/>
                <a:cs typeface="Inter Variable Text Light" panose="02000503000000020004" pitchFamily="2" charset="0"/>
              </a:rPr>
              <a:t>Unstructured data, meta data</a:t>
            </a:r>
          </a:p>
        </p:txBody>
      </p: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07C36E02-3C5B-E0BB-82B0-878EA009E712}"/>
              </a:ext>
            </a:extLst>
          </p:cNvPr>
          <p:cNvCxnSpPr>
            <a:cxnSpLocks/>
            <a:stCxn id="28" idx="3"/>
            <a:endCxn id="51" idx="0"/>
          </p:cNvCxnSpPr>
          <p:nvPr/>
        </p:nvCxnSpPr>
        <p:spPr>
          <a:xfrm>
            <a:off x="5906237" y="2316052"/>
            <a:ext cx="1283054" cy="2135056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B109B2A-4656-B415-B4E7-4461895A37B1}"/>
              </a:ext>
            </a:extLst>
          </p:cNvPr>
          <p:cNvSpPr txBox="1"/>
          <p:nvPr/>
        </p:nvSpPr>
        <p:spPr>
          <a:xfrm>
            <a:off x="10015334" y="240223"/>
            <a:ext cx="1986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EF7D04"/>
                </a:solidFill>
              </a:rPr>
              <a:t>Summary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9844C94-A956-EC1F-AC0A-B5274C837DBD}"/>
              </a:ext>
            </a:extLst>
          </p:cNvPr>
          <p:cNvSpPr/>
          <p:nvPr/>
        </p:nvSpPr>
        <p:spPr>
          <a:xfrm>
            <a:off x="35198" y="6945087"/>
            <a:ext cx="3960000" cy="1283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E03D60F-095C-3EB3-CAAB-2E6F17ACAEEB}"/>
              </a:ext>
            </a:extLst>
          </p:cNvPr>
          <p:cNvSpPr/>
          <p:nvPr/>
        </p:nvSpPr>
        <p:spPr>
          <a:xfrm>
            <a:off x="4116000" y="6949066"/>
            <a:ext cx="3960000" cy="1283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E4E9904-086B-3748-3B8D-0DD178F6C609}"/>
              </a:ext>
            </a:extLst>
          </p:cNvPr>
          <p:cNvSpPr/>
          <p:nvPr/>
        </p:nvSpPr>
        <p:spPr>
          <a:xfrm>
            <a:off x="8145728" y="6945088"/>
            <a:ext cx="3960000" cy="69431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11</a:t>
            </a:r>
            <a:r>
              <a:rPr lang="ko-KR" altLang="en-US" dirty="0"/>
              <a:t> </a:t>
            </a:r>
            <a:r>
              <a:rPr lang="en-US" altLang="ko-KR" dirty="0"/>
              <a:t>cm</a:t>
            </a:r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5E68892-3AC0-68B7-EB4D-0D4E1D8D2F01}"/>
              </a:ext>
            </a:extLst>
          </p:cNvPr>
          <p:cNvSpPr txBox="1"/>
          <p:nvPr/>
        </p:nvSpPr>
        <p:spPr>
          <a:xfrm>
            <a:off x="12534900" y="7315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B59F5F-41C7-431C-DBBC-CD825E92FEAD}"/>
              </a:ext>
            </a:extLst>
          </p:cNvPr>
          <p:cNvSpPr/>
          <p:nvPr/>
        </p:nvSpPr>
        <p:spPr>
          <a:xfrm>
            <a:off x="12258604" y="0"/>
            <a:ext cx="136419" cy="154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008223-DEC3-513F-9DDC-ACDBA6890DBB}"/>
              </a:ext>
            </a:extLst>
          </p:cNvPr>
          <p:cNvSpPr/>
          <p:nvPr/>
        </p:nvSpPr>
        <p:spPr>
          <a:xfrm flipH="1">
            <a:off x="12296548" y="1775585"/>
            <a:ext cx="45719" cy="154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F6EFA1-7D0A-95AF-D772-DA8C311C21A2}"/>
              </a:ext>
            </a:extLst>
          </p:cNvPr>
          <p:cNvSpPr/>
          <p:nvPr/>
        </p:nvSpPr>
        <p:spPr>
          <a:xfrm>
            <a:off x="12296548" y="3551170"/>
            <a:ext cx="136419" cy="154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BAA8DE-BFF4-B542-726F-7CE31D214A27}"/>
              </a:ext>
            </a:extLst>
          </p:cNvPr>
          <p:cNvSpPr/>
          <p:nvPr/>
        </p:nvSpPr>
        <p:spPr>
          <a:xfrm flipH="1">
            <a:off x="12334492" y="5326755"/>
            <a:ext cx="45719" cy="154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21731A32-93CB-3269-8BED-7217DDD62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CA" sz="3200" b="1" dirty="0"/>
              <a:t>Enterprise Diverse Data Integration Pipeline</a:t>
            </a:r>
            <a:endParaRPr lang="en-US" sz="3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4586078-EA0A-99BD-E15C-026932ED69DE}"/>
              </a:ext>
            </a:extLst>
          </p:cNvPr>
          <p:cNvGrpSpPr/>
          <p:nvPr/>
        </p:nvGrpSpPr>
        <p:grpSpPr>
          <a:xfrm>
            <a:off x="4083127" y="3203271"/>
            <a:ext cx="1824126" cy="646626"/>
            <a:chOff x="710344" y="2097153"/>
            <a:chExt cx="1824126" cy="64662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BB4299BA-140D-4BF8-0750-9A91FEA4CA7C}"/>
                </a:ext>
              </a:extLst>
            </p:cNvPr>
            <p:cNvSpPr/>
            <p:nvPr/>
          </p:nvSpPr>
          <p:spPr>
            <a:xfrm>
              <a:off x="777812" y="2137165"/>
              <a:ext cx="1756658" cy="566603"/>
            </a:xfrm>
            <a:prstGeom prst="roundRect">
              <a:avLst/>
            </a:prstGeom>
            <a:noFill/>
            <a:ln>
              <a:solidFill>
                <a:srgbClr val="8D4ABA"/>
              </a:solidFill>
            </a:ln>
            <a:effectLst>
              <a:outerShdw blurRad="40000" dist="23000" dir="5400000" rotWithShape="0">
                <a:srgbClr val="753D9A">
                  <a:alpha val="34902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FE6997-8A64-DAD0-964C-ECC1E93F107A}"/>
                </a:ext>
              </a:extLst>
            </p:cNvPr>
            <p:cNvSpPr txBox="1"/>
            <p:nvPr/>
          </p:nvSpPr>
          <p:spPr>
            <a:xfrm>
              <a:off x="1308733" y="2321475"/>
              <a:ext cx="104227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Large volumes 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BC2278D-9AB6-2E80-58DF-9E6E49328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684" t="12653" r="17127" b="53337"/>
            <a:stretch>
              <a:fillRect/>
            </a:stretch>
          </p:blipFill>
          <p:spPr>
            <a:xfrm>
              <a:off x="710344" y="2097153"/>
              <a:ext cx="714604" cy="646626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88C14D6-ABF5-ADB3-861A-DB6306AF04CA}"/>
              </a:ext>
            </a:extLst>
          </p:cNvPr>
          <p:cNvSpPr txBox="1"/>
          <p:nvPr/>
        </p:nvSpPr>
        <p:spPr>
          <a:xfrm>
            <a:off x="4083127" y="3889449"/>
            <a:ext cx="21004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>
                <a:latin typeface="Inter Variable Text Light" panose="02000503000000020004" pitchFamily="2" charset="0"/>
                <a:ea typeface="Inter Variable Text Light" panose="02000503000000020004" pitchFamily="2" charset="0"/>
                <a:cs typeface="Inter Variable Text Light" panose="02000503000000020004" pitchFamily="2" charset="0"/>
              </a:rPr>
              <a:t>Structured data, Flat data: 29 columns and tried to handle total 17,338,205 rows.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F006F492-2B94-3502-5983-CC4D859C4223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>
          <a:xfrm>
            <a:off x="2376400" y="1763752"/>
            <a:ext cx="1706727" cy="1762832"/>
          </a:xfrm>
          <a:prstGeom prst="bentConnector3">
            <a:avLst>
              <a:gd name="adj1" fmla="val 86834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2D0E2DA-BEAE-6FF8-3931-43B84E2427AE}"/>
              </a:ext>
            </a:extLst>
          </p:cNvPr>
          <p:cNvGrpSpPr/>
          <p:nvPr/>
        </p:nvGrpSpPr>
        <p:grpSpPr>
          <a:xfrm>
            <a:off x="6243494" y="4411096"/>
            <a:ext cx="1824126" cy="646626"/>
            <a:chOff x="710344" y="2097153"/>
            <a:chExt cx="1824126" cy="646626"/>
          </a:xfrm>
        </p:grpSpPr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8A4514BE-3008-D91E-3A2C-16F53D4BDE77}"/>
                </a:ext>
              </a:extLst>
            </p:cNvPr>
            <p:cNvSpPr/>
            <p:nvPr/>
          </p:nvSpPr>
          <p:spPr>
            <a:xfrm>
              <a:off x="777812" y="2137165"/>
              <a:ext cx="1756658" cy="566603"/>
            </a:xfrm>
            <a:prstGeom prst="roundRect">
              <a:avLst/>
            </a:prstGeom>
            <a:noFill/>
            <a:ln>
              <a:solidFill>
                <a:srgbClr val="8D4ABA"/>
              </a:solidFill>
            </a:ln>
            <a:effectLst>
              <a:outerShdw blurRad="40000" dist="23000" dir="5400000" rotWithShape="0">
                <a:srgbClr val="753D9A">
                  <a:alpha val="34902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B071AAF-DA27-BF89-8ABF-BE09AEF49390}"/>
                </a:ext>
              </a:extLst>
            </p:cNvPr>
            <p:cNvSpPr txBox="1"/>
            <p:nvPr/>
          </p:nvSpPr>
          <p:spPr>
            <a:xfrm>
              <a:off x="1345238" y="2235800"/>
              <a:ext cx="10086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WAREHOUSE: </a:t>
              </a:r>
            </a:p>
            <a:p>
              <a:r>
                <a:rPr lang="en-US" sz="900" b="1" dirty="0"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LOADING</a:t>
              </a: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96072968-CEE0-2119-7392-13A301B65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684" t="12653" r="17127" b="53337"/>
            <a:stretch>
              <a:fillRect/>
            </a:stretch>
          </p:blipFill>
          <p:spPr>
            <a:xfrm>
              <a:off x="710344" y="2097153"/>
              <a:ext cx="714604" cy="646626"/>
            </a:xfrm>
            <a:prstGeom prst="rect">
              <a:avLst/>
            </a:prstGeom>
          </p:spPr>
        </p:pic>
      </p:grp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026B0AE4-8ECD-4E25-B5D3-B94389514D6A}"/>
              </a:ext>
            </a:extLst>
          </p:cNvPr>
          <p:cNvCxnSpPr>
            <a:cxnSpLocks/>
            <a:stCxn id="5" idx="3"/>
            <a:endCxn id="51" idx="0"/>
          </p:cNvCxnSpPr>
          <p:nvPr/>
        </p:nvCxnSpPr>
        <p:spPr>
          <a:xfrm>
            <a:off x="5907253" y="3526585"/>
            <a:ext cx="1282038" cy="924523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DCBF4CB-A8E5-8C13-BA49-03877419A3FD}"/>
              </a:ext>
            </a:extLst>
          </p:cNvPr>
          <p:cNvSpPr txBox="1"/>
          <p:nvPr/>
        </p:nvSpPr>
        <p:spPr>
          <a:xfrm>
            <a:off x="6293486" y="5052502"/>
            <a:ext cx="2100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Inter Variable Text Light" panose="02000503000000020004" pitchFamily="2" charset="0"/>
                <a:ea typeface="Inter Variable Text Light" panose="02000503000000020004" pitchFamily="2" charset="0"/>
                <a:cs typeface="Inter Variable Text Light" panose="02000503000000020004" pitchFamily="2" charset="0"/>
              </a:rPr>
              <a:t>Load data (as string type)  in Microsoft-</a:t>
            </a:r>
            <a:r>
              <a:rPr lang="en-US" altLang="ko-KR" sz="1000" dirty="0" err="1">
                <a:latin typeface="Inter Variable Text Light" panose="02000503000000020004" pitchFamily="2" charset="0"/>
                <a:ea typeface="Inter Variable Text Light" panose="02000503000000020004" pitchFamily="2" charset="0"/>
                <a:cs typeface="Inter Variable Text Light" panose="02000503000000020004" pitchFamily="2" charset="0"/>
              </a:rPr>
              <a:t>sql</a:t>
            </a:r>
            <a:r>
              <a:rPr lang="en-US" altLang="ko-KR" sz="1000" dirty="0">
                <a:latin typeface="Inter Variable Text Light" panose="02000503000000020004" pitchFamily="2" charset="0"/>
                <a:ea typeface="Inter Variable Text Light" panose="02000503000000020004" pitchFamily="2" charset="0"/>
                <a:cs typeface="Inter Variable Text Light" panose="02000503000000020004" pitchFamily="2" charset="0"/>
              </a:rPr>
              <a:t> server</a:t>
            </a:r>
            <a:endParaRPr lang="en-CA" sz="1000" dirty="0">
              <a:latin typeface="Inter Variable Text Light" panose="02000503000000020004" pitchFamily="2" charset="0"/>
              <a:ea typeface="Inter Variable Text Light" panose="02000503000000020004" pitchFamily="2" charset="0"/>
              <a:cs typeface="Inter Variable Text Light" panose="02000503000000020004" pitchFamily="2" charset="0"/>
            </a:endParaRPr>
          </a:p>
        </p:txBody>
      </p:sp>
      <p:pic>
        <p:nvPicPr>
          <p:cNvPr id="66" name="Picture 2" descr="SQL Server 2016 Key Database Concepts | QuickStart">
            <a:extLst>
              <a:ext uri="{FF2B5EF4-FFF2-40B4-BE49-F238E27FC236}">
                <a16:creationId xmlns:a16="http://schemas.microsoft.com/office/drawing/2014/main" id="{273CCB09-8B94-5A54-7AD3-DFA47DA37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723" y="4119864"/>
            <a:ext cx="451203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05A0F2F2-B12E-D1D3-21D3-B2A8A6E9015D}"/>
              </a:ext>
            </a:extLst>
          </p:cNvPr>
          <p:cNvSpPr/>
          <p:nvPr/>
        </p:nvSpPr>
        <p:spPr>
          <a:xfrm>
            <a:off x="6254710" y="3243283"/>
            <a:ext cx="1756658" cy="566603"/>
          </a:xfrm>
          <a:prstGeom prst="roundRect">
            <a:avLst/>
          </a:prstGeom>
          <a:solidFill>
            <a:schemeClr val="bg1"/>
          </a:solidFill>
          <a:ln>
            <a:solidFill>
              <a:srgbClr val="8D4ABA"/>
            </a:solidFill>
          </a:ln>
          <a:effectLst>
            <a:outerShdw blurRad="40000" dist="23000" dir="5400000" rotWithShape="0">
              <a:srgbClr val="753D9A">
                <a:alpha val="34902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Data extraction</a:t>
            </a:r>
            <a:endParaRPr lang="en-US" dirty="0"/>
          </a:p>
        </p:txBody>
      </p:sp>
      <p:pic>
        <p:nvPicPr>
          <p:cNvPr id="67" name="Picture 8" descr="What is Jupyter Notebook and use cases of Jupyter Notebook?">
            <a:extLst>
              <a:ext uri="{FF2B5EF4-FFF2-40B4-BE49-F238E27FC236}">
                <a16:creationId xmlns:a16="http://schemas.microsoft.com/office/drawing/2014/main" id="{888656C0-BE3D-BB21-8165-B8BDCD092D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20" r="23363"/>
          <a:stretch>
            <a:fillRect/>
          </a:stretch>
        </p:blipFill>
        <p:spPr bwMode="auto">
          <a:xfrm>
            <a:off x="7808728" y="3044049"/>
            <a:ext cx="257876" cy="24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2310924-28B0-6741-65C2-63B9CCD1786B}"/>
              </a:ext>
            </a:extLst>
          </p:cNvPr>
          <p:cNvGrpSpPr/>
          <p:nvPr/>
        </p:nvGrpSpPr>
        <p:grpSpPr>
          <a:xfrm>
            <a:off x="8387446" y="4410789"/>
            <a:ext cx="1914078" cy="646626"/>
            <a:chOff x="710344" y="2097153"/>
            <a:chExt cx="1824126" cy="646626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22187E37-2624-C9FA-3822-7C4A8114E938}"/>
                </a:ext>
              </a:extLst>
            </p:cNvPr>
            <p:cNvSpPr/>
            <p:nvPr/>
          </p:nvSpPr>
          <p:spPr>
            <a:xfrm>
              <a:off x="777812" y="2137165"/>
              <a:ext cx="1756658" cy="566603"/>
            </a:xfrm>
            <a:prstGeom prst="roundRect">
              <a:avLst/>
            </a:prstGeom>
            <a:noFill/>
            <a:ln>
              <a:solidFill>
                <a:srgbClr val="8D4ABA"/>
              </a:solidFill>
            </a:ln>
            <a:effectLst>
              <a:outerShdw blurRad="40000" dist="23000" dir="5400000" rotWithShape="0">
                <a:srgbClr val="753D9A">
                  <a:alpha val="34902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AC9115-4667-44AB-2859-A79C5A9A6F99}"/>
                </a:ext>
              </a:extLst>
            </p:cNvPr>
            <p:cNvSpPr txBox="1"/>
            <p:nvPr/>
          </p:nvSpPr>
          <p:spPr>
            <a:xfrm>
              <a:off x="1345238" y="2235800"/>
              <a:ext cx="10086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WAREHOUSE: </a:t>
              </a:r>
            </a:p>
            <a:p>
              <a:r>
                <a:rPr lang="en-US" sz="900" b="1" dirty="0"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LOADING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4B30F6A-D4E5-7770-DAC5-CF11CAF94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684" t="12653" r="17127" b="53337"/>
            <a:stretch>
              <a:fillRect/>
            </a:stretch>
          </p:blipFill>
          <p:spPr>
            <a:xfrm>
              <a:off x="710344" y="2097153"/>
              <a:ext cx="714604" cy="646626"/>
            </a:xfrm>
            <a:prstGeom prst="rect">
              <a:avLst/>
            </a:prstGeom>
          </p:spPr>
        </p:pic>
      </p:grp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4AD6346D-19D7-0D6E-8C11-D5B98BE8BF11}"/>
              </a:ext>
            </a:extLst>
          </p:cNvPr>
          <p:cNvCxnSpPr>
            <a:cxnSpLocks/>
            <a:stCxn id="51" idx="3"/>
            <a:endCxn id="14" idx="1"/>
          </p:cNvCxnSpPr>
          <p:nvPr/>
        </p:nvCxnSpPr>
        <p:spPr>
          <a:xfrm flipV="1">
            <a:off x="8067620" y="4734102"/>
            <a:ext cx="319826" cy="30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The Importance of MySQL Database: Advantages, Disadvantages, and Influence  in AI and Data">
            <a:extLst>
              <a:ext uri="{FF2B5EF4-FFF2-40B4-BE49-F238E27FC236}">
                <a16:creationId xmlns:a16="http://schemas.microsoft.com/office/drawing/2014/main" id="{49531FF7-CC7A-AA17-CC31-A64970802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24" r="23088"/>
          <a:stretch>
            <a:fillRect/>
          </a:stretch>
        </p:blipFill>
        <p:spPr bwMode="auto">
          <a:xfrm>
            <a:off x="7765136" y="4119710"/>
            <a:ext cx="407669" cy="39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B8C19BC-1C65-A9EC-6241-2857BC825662}"/>
              </a:ext>
            </a:extLst>
          </p:cNvPr>
          <p:cNvSpPr txBox="1"/>
          <p:nvPr/>
        </p:nvSpPr>
        <p:spPr>
          <a:xfrm>
            <a:off x="8357807" y="5052502"/>
            <a:ext cx="345571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Inter Variable Text Light" panose="02000503000000020004" pitchFamily="2" charset="0"/>
                <a:ea typeface="Inter Variable Text Light" panose="02000503000000020004" pitchFamily="2" charset="0"/>
                <a:cs typeface="Inter Variable Text Light" panose="02000503000000020004" pitchFamily="2" charset="0"/>
              </a:rPr>
              <a:t> </a:t>
            </a:r>
            <a:r>
              <a:rPr lang="en-CA" sz="1000" dirty="0">
                <a:latin typeface="Inter Variable Text Light" panose="02000503000000020004" pitchFamily="2" charset="0"/>
                <a:ea typeface="Inter Variable Text Light" panose="02000503000000020004" pitchFamily="2" charset="0"/>
                <a:cs typeface="Inter Variable Text Light" panose="02000503000000020004" pitchFamily="2" charset="0"/>
              </a:rPr>
              <a:t>Integrated heterogeneous data sources — including flat files, image metadata, and large-scale structured datasets — into a centralized data warehouse through staged ETL/ELT pipelines, ensuring scalable and reliable data loading.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Inter Variable Text Light" panose="02000503000000020004" pitchFamily="2" charset="0"/>
                <a:ea typeface="Inter Variable Text Light" panose="02000503000000020004" pitchFamily="2" charset="0"/>
                <a:cs typeface="Inter Variable Text Light" panose="02000503000000020004" pitchFamily="2" charset="0"/>
              </a:rPr>
              <a:t> </a:t>
            </a:r>
            <a:r>
              <a:rPr lang="en-CA" sz="1000" dirty="0">
                <a:latin typeface="Inter Variable Text Light" panose="02000503000000020004" pitchFamily="2" charset="0"/>
                <a:ea typeface="Inter Variable Text Light" panose="02000503000000020004" pitchFamily="2" charset="0"/>
                <a:cs typeface="Inter Variable Text Light" panose="02000503000000020004" pitchFamily="2" charset="0"/>
              </a:rPr>
              <a:t>Applied data cleansing, transformation, normalization, and batch-loading strategies to improve data integrity, reduce redundancy, and support consistent analytical processing across enterprise warehouse environments.</a:t>
            </a:r>
          </a:p>
          <a:p>
            <a:pPr>
              <a:buFont typeface="Arial" panose="020B0604020202020204" pitchFamily="34" charset="0"/>
              <a:buChar char="•"/>
            </a:pPr>
            <a:endParaRPr lang="en-CA" sz="1000" dirty="0">
              <a:latin typeface="Inter Variable Text Light" panose="02000503000000020004" pitchFamily="2" charset="0"/>
              <a:ea typeface="Inter Variable Text Light" panose="02000503000000020004" pitchFamily="2" charset="0"/>
              <a:cs typeface="Inter Variable Text Light" panose="02000503000000020004" pitchFamily="2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9664FDD-335D-0E9B-3744-59A56A03AADC}"/>
              </a:ext>
            </a:extLst>
          </p:cNvPr>
          <p:cNvGrpSpPr/>
          <p:nvPr/>
        </p:nvGrpSpPr>
        <p:grpSpPr>
          <a:xfrm>
            <a:off x="8586797" y="1159977"/>
            <a:ext cx="2391560" cy="646626"/>
            <a:chOff x="805483" y="2943982"/>
            <a:chExt cx="2223773" cy="566603"/>
          </a:xfrm>
        </p:grpSpPr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F3F9F06D-7851-6274-803A-931287FBE620}"/>
                </a:ext>
              </a:extLst>
            </p:cNvPr>
            <p:cNvSpPr/>
            <p:nvPr/>
          </p:nvSpPr>
          <p:spPr>
            <a:xfrm>
              <a:off x="805483" y="2943982"/>
              <a:ext cx="1756658" cy="566603"/>
            </a:xfrm>
            <a:prstGeom prst="roundRect">
              <a:avLst/>
            </a:prstGeom>
            <a:noFill/>
            <a:ln>
              <a:solidFill>
                <a:srgbClr val="16A45D"/>
              </a:solidFill>
            </a:ln>
            <a:effectLst>
              <a:outerShdw blurRad="40000" dist="23000" dir="5400000" rotWithShape="0">
                <a:srgbClr val="117844">
                  <a:alpha val="34902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F94285E-6D8E-4DF9-0560-47D4019E9F47}"/>
                </a:ext>
              </a:extLst>
            </p:cNvPr>
            <p:cNvSpPr txBox="1"/>
            <p:nvPr/>
          </p:nvSpPr>
          <p:spPr>
            <a:xfrm>
              <a:off x="1348882" y="3121800"/>
              <a:ext cx="1680374" cy="3488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Transformation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423BA620-2E1B-6A78-ABC2-6FF259270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9257" t="50686" r="54561" b="16456"/>
            <a:stretch>
              <a:fillRect/>
            </a:stretch>
          </p:blipFill>
          <p:spPr>
            <a:xfrm>
              <a:off x="885907" y="2983993"/>
              <a:ext cx="538266" cy="50662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596FB87-041C-09D0-9F9E-AAF9F29D9A20}"/>
              </a:ext>
            </a:extLst>
          </p:cNvPr>
          <p:cNvGrpSpPr/>
          <p:nvPr/>
        </p:nvGrpSpPr>
        <p:grpSpPr>
          <a:xfrm>
            <a:off x="8597997" y="1838315"/>
            <a:ext cx="1889200" cy="622466"/>
            <a:chOff x="805483" y="3750799"/>
            <a:chExt cx="1853763" cy="566603"/>
          </a:xfrm>
        </p:grpSpPr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346FCFB6-072D-38DF-A8C7-191B899A9BC4}"/>
                </a:ext>
              </a:extLst>
            </p:cNvPr>
            <p:cNvSpPr/>
            <p:nvPr/>
          </p:nvSpPr>
          <p:spPr>
            <a:xfrm>
              <a:off x="805483" y="3750799"/>
              <a:ext cx="1853763" cy="566603"/>
            </a:xfrm>
            <a:prstGeom prst="roundRect">
              <a:avLst/>
            </a:prstGeom>
            <a:noFill/>
            <a:ln>
              <a:solidFill>
                <a:srgbClr val="EF7D04"/>
              </a:solidFill>
            </a:ln>
            <a:effectLst>
              <a:outerShdw blurRad="40000" dist="23000" dir="5400000" rotWithShape="0">
                <a:srgbClr val="DF7303">
                  <a:alpha val="34902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F0D38E5-4CC5-0E15-10E3-28E6E94DE419}"/>
                </a:ext>
              </a:extLst>
            </p:cNvPr>
            <p:cNvSpPr txBox="1"/>
            <p:nvPr/>
          </p:nvSpPr>
          <p:spPr>
            <a:xfrm>
              <a:off x="1396500" y="3931312"/>
              <a:ext cx="903179" cy="1941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000" b="1" dirty="0"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Intelligence</a:t>
              </a:r>
              <a:endParaRPr lang="en-US" sz="1000" b="1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0244F3EA-1EC6-B335-F8DA-B9C225112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8181" t="53132" r="22076" b="19850"/>
            <a:stretch>
              <a:fillRect/>
            </a:stretch>
          </p:blipFill>
          <p:spPr>
            <a:xfrm>
              <a:off x="906756" y="3834741"/>
              <a:ext cx="388471" cy="398717"/>
            </a:xfrm>
            <a:prstGeom prst="rect">
              <a:avLst/>
            </a:prstGeom>
          </p:spPr>
        </p:pic>
      </p:grp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2DA5C2EB-AC52-8CCD-5556-51D6C06D1904}"/>
              </a:ext>
            </a:extLst>
          </p:cNvPr>
          <p:cNvSpPr/>
          <p:nvPr/>
        </p:nvSpPr>
        <p:spPr>
          <a:xfrm>
            <a:off x="8493909" y="1096452"/>
            <a:ext cx="2095418" cy="1408926"/>
          </a:xfrm>
          <a:prstGeom prst="roundRect">
            <a:avLst/>
          </a:prstGeom>
          <a:noFill/>
          <a:ln>
            <a:solidFill>
              <a:srgbClr val="8D4ABA"/>
            </a:solidFill>
          </a:ln>
          <a:effectLst>
            <a:outerShdw blurRad="40000" dist="23000" dir="5400000" rotWithShape="0">
              <a:srgbClr val="753D9A">
                <a:alpha val="34902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B1C1F130-61F2-B2A7-76B9-C9945737DA80}"/>
              </a:ext>
            </a:extLst>
          </p:cNvPr>
          <p:cNvCxnSpPr>
            <a:cxnSpLocks/>
            <a:stCxn id="10" idx="0"/>
            <a:endCxn id="56" idx="1"/>
          </p:cNvCxnSpPr>
          <p:nvPr/>
        </p:nvCxnSpPr>
        <p:spPr>
          <a:xfrm rot="16200000" flipV="1">
            <a:off x="7611953" y="2682871"/>
            <a:ext cx="2649886" cy="885974"/>
          </a:xfrm>
          <a:prstGeom prst="bentConnector4">
            <a:avLst>
              <a:gd name="adj1" fmla="val 36708"/>
              <a:gd name="adj2" fmla="val 129828"/>
            </a:avLst>
          </a:prstGeom>
          <a:ln>
            <a:solidFill>
              <a:schemeClr val="bg1">
                <a:lumMod val="65000"/>
              </a:schemeClr>
            </a:solidFill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FDFE295-9734-13C1-4043-4496F004E502}"/>
              </a:ext>
            </a:extLst>
          </p:cNvPr>
          <p:cNvSpPr txBox="1"/>
          <p:nvPr/>
        </p:nvSpPr>
        <p:spPr>
          <a:xfrm>
            <a:off x="8487929" y="2589342"/>
            <a:ext cx="308450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1000" dirty="0"/>
              <a:t> Designed reusable dimensional data models using Star Schema and Snowflake Schema architectures to support scalable analytics, improve query performance, and enable future business intelligence and reporting integration.</a:t>
            </a:r>
          </a:p>
        </p:txBody>
      </p:sp>
    </p:spTree>
    <p:extLst>
      <p:ext uri="{BB962C8B-B14F-4D97-AF65-F5344CB8AC3E}">
        <p14:creationId xmlns:p14="http://schemas.microsoft.com/office/powerpoint/2010/main" val="3046932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plate for PPT" id="{3F501836-4A1F-1845-AEAA-4CA3867E73DD}" vid="{8BAD31BC-49A8-F046-BF13-C0A08EBDCA0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464</TotalTime>
  <Words>280</Words>
  <Application>Microsoft Macintosh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Inter Variable Text</vt:lpstr>
      <vt:lpstr>Inter Variable Text Light</vt:lpstr>
      <vt:lpstr>Office Theme</vt:lpstr>
      <vt:lpstr>Enterprise Diverse Data Integration Pipeline: photos, music, metadata, and flat files</vt:lpstr>
      <vt:lpstr>Enterprise Diverse Data Integration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Donghwan Won</dc:creator>
  <cp:lastModifiedBy>Donghwan Won</cp:lastModifiedBy>
  <cp:revision>5</cp:revision>
  <dcterms:created xsi:type="dcterms:W3CDTF">2026-05-17T02:49:02Z</dcterms:created>
  <dcterms:modified xsi:type="dcterms:W3CDTF">2026-05-17T10:39:38Z</dcterms:modified>
</cp:coreProperties>
</file>